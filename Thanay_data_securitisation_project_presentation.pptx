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32927-9819-2FB0-D0FE-4F9DE7686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592E31-9B35-6B10-AC62-07D1F348E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9A17D-0AAC-6C8D-207F-97DCD87D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61B-D297-4D83-BBB3-45DC65231F65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C0D9F-4B53-BD17-BA57-0DD94B935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B4EA7-9D9E-1032-7F39-73B2480BE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B965-AD13-4617-8810-4C4C5D7D2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943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2BEF2-34B6-1CD4-E5EE-B9C7A89DE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BC32E-8BF4-AAE1-E5EC-8BCAC8CB1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1607F-6E04-8B25-ECF7-EF217D464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61B-D297-4D83-BBB3-45DC65231F65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36E6F-BE87-ECCB-8F21-76733D9D2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3DFDC-7D66-0DEB-5B6F-D8E3CCC7F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B965-AD13-4617-8810-4C4C5D7D2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077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BBBA4-3C86-4DBC-0BD9-7AD933E39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5DBF1-9073-52B3-7A26-4426BACCB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347CA-4566-9494-B397-57EDF2F4D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61B-D297-4D83-BBB3-45DC65231F65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CE87D-9DB6-FB8B-C395-D9304FCEB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619D0-5824-2BDD-3EF3-F26BBEFCE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B965-AD13-4617-8810-4C4C5D7D2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582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D75DC-0203-D1DF-4414-201C16AEE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4B319-EAF5-D43D-5554-81E157817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99215-E14C-BAAF-C508-92A814744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8C03F-7B78-8AB9-91BE-50CD3416A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61B-D297-4D83-BBB3-45DC65231F65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2B18A-319D-19F0-5FCB-676196D70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3ABAE-FF89-48D6-983F-6C5681F0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B965-AD13-4617-8810-4C4C5D7D2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555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AC679-8E9A-C352-9090-71840B27D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D22E0-3580-C1A4-D2BE-A9C395FDF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80B4B-7000-D744-8A52-54B3B6103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67103C-0C5F-BCA4-312E-C36F70D40F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A5711-EF73-99B2-D21B-7F16C5698E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AE8651-3C29-E71C-3408-81E6A530C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61B-D297-4D83-BBB3-45DC65231F65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DD6C2-9C63-313D-C386-384E8EDE6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E5C90E-6998-A8F7-DDE7-7B66F40BC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B965-AD13-4617-8810-4C4C5D7D2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401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5FFA-BDF4-D7C3-4844-1F0E27360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5B150C-1D8D-6557-961D-E848A4A9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61B-D297-4D83-BBB3-45DC65231F65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593950-9274-8F7F-E2BD-64500419F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D22FC-BB5A-B1AE-3A20-3EE2EDC3C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B965-AD13-4617-8810-4C4C5D7D2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354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ACE041-6257-493A-5D38-2732C0248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61B-D297-4D83-BBB3-45DC65231F65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3C0742-1A4B-D238-8BC6-CB88E2D46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3575C-DCF9-409C-F421-73D0D2F79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B965-AD13-4617-8810-4C4C5D7D2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42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EA304-EEE9-A36C-0BC8-A8C67CCC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B2A34-5E48-105E-7D6A-4B040D1B6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6AF0F-AE6F-E00C-090B-713CFB061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33119-31DF-A3EE-C64F-E7E2CF7AE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61B-D297-4D83-BBB3-45DC65231F65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26BDE-B8B8-02C7-430D-834C4A0BB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66D12-8440-EC71-117F-A891C7501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B965-AD13-4617-8810-4C4C5D7D2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955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CCAB2-53D3-96EE-E9A9-8BB5DE556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28E52B-8F46-B60B-9A37-3B51E72EAF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F783C-F90C-C01F-49E3-21AC1C4EA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FAB78-8640-48A1-7168-98E38DD7D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61B-D297-4D83-BBB3-45DC65231F65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0ABAE-FA4D-EA80-943E-91DD51C83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4B5930-8A99-6F65-F225-B16A1B24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B965-AD13-4617-8810-4C4C5D7D2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867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514F3-1115-027A-C72F-5499ADC80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2BE49-648D-E629-31C4-7962E595D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DECB9-6CE9-E3D3-9AE7-6887FBB1E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61B-D297-4D83-BBB3-45DC65231F65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63E43-CFCB-86A1-5A74-19325C532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E3B9A-B690-2DB2-1E16-A03C16118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B965-AD13-4617-8810-4C4C5D7D2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805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CF54EE-287A-C46A-2EFD-19DAFCA54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519F1C-E29A-C8C5-E20E-FB2EE1032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0CD94-7A17-316F-A70A-CF6AE9B00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61B-D297-4D83-BBB3-45DC65231F65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74265-9566-1562-EC28-18085111C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162FA-3FF0-BB2D-2139-DED07F40B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B965-AD13-4617-8810-4C4C5D7D2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376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08B2C8-04A6-B0D6-45C7-7E27077D4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2611D-7DF2-F19F-772E-7D104F654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B0E50-CB72-C3AB-06B4-C4ADBE4C0C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AB61B-D297-4D83-BBB3-45DC65231F65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3596B-1B53-AE9B-54ED-D16191ECD7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29562-AF6C-F424-3763-3B0EB9606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5B965-AD13-4617-8810-4C4C5D7D2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3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977A1-D87A-FAA8-8C0B-439EFBC4CB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Securitisation Risk Analytics and IFRS 9 Risk Arena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2689E-8BCF-1C7F-019A-35EB5CB56B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Power BI Project Presentation</a:t>
            </a:r>
          </a:p>
          <a:p>
            <a:r>
              <a:rPr lang="en-IN" b="1" dirty="0"/>
              <a:t>Prepared By:</a:t>
            </a:r>
            <a:br>
              <a:rPr lang="en-IN" dirty="0"/>
            </a:br>
            <a:r>
              <a:rPr lang="en-IN" dirty="0"/>
              <a:t>Koduri Thanay Chowdary</a:t>
            </a:r>
          </a:p>
          <a:p>
            <a:r>
              <a:rPr lang="en-IN" b="1" dirty="0"/>
              <a:t>Domain:</a:t>
            </a:r>
            <a:br>
              <a:rPr lang="en-IN" dirty="0"/>
            </a:br>
            <a:r>
              <a:rPr lang="en-IN" dirty="0"/>
              <a:t>Data Analytics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5089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4D8C-FFAD-ADB5-F72C-98C243B2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73B32-ECE2-18AA-20FF-EAE6A08FA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Built a </a:t>
            </a:r>
            <a:r>
              <a:rPr lang="en-IN" b="1" dirty="0"/>
              <a:t>Securitisation Risk Analytics System using Power BI</a:t>
            </a:r>
            <a:r>
              <a:rPr lang="en-IN" dirty="0"/>
              <a:t> </a:t>
            </a:r>
            <a:r>
              <a:rPr lang="en-IN" dirty="0" err="1"/>
              <a:t>Analyzes</a:t>
            </a:r>
            <a:r>
              <a:rPr lang="en-IN" dirty="0"/>
              <a:t> loan portfolio performance and credit risk Implements </a:t>
            </a:r>
            <a:r>
              <a:rPr lang="en-IN" b="1" dirty="0"/>
              <a:t>IFRS 9 Expected Credit Loss (ECL) model</a:t>
            </a:r>
            <a:r>
              <a:rPr lang="en-IN" dirty="0"/>
              <a:t> Includes: DPD Analysis </a:t>
            </a:r>
          </a:p>
          <a:p>
            <a:r>
              <a:rPr lang="en-IN" dirty="0"/>
              <a:t>Vintage Analysis </a:t>
            </a:r>
          </a:p>
          <a:p>
            <a:r>
              <a:rPr lang="en-IN" dirty="0"/>
              <a:t>Waterfall Model </a:t>
            </a:r>
          </a:p>
          <a:p>
            <a:r>
              <a:rPr lang="en-IN" dirty="0"/>
              <a:t>Stress Testing </a:t>
            </a:r>
          </a:p>
          <a:p>
            <a:r>
              <a:rPr lang="en-IN" dirty="0"/>
              <a:t>Investor Reporting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0036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BE36C-5125-AB34-D5D6-1D827895D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EB89C-0CF8-45E6-D3A2-C0FEC9B84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Financial institutions face challenges in:</a:t>
            </a:r>
          </a:p>
          <a:p>
            <a:r>
              <a:rPr lang="en-IN" dirty="0"/>
              <a:t>Tracking loan defaults and delinquency trends </a:t>
            </a:r>
          </a:p>
          <a:p>
            <a:r>
              <a:rPr lang="en-IN" dirty="0"/>
              <a:t>Estimating expected credit losses </a:t>
            </a:r>
          </a:p>
          <a:p>
            <a:r>
              <a:rPr lang="en-IN" dirty="0"/>
              <a:t>Monitoring portfolio risk exposure </a:t>
            </a:r>
          </a:p>
          <a:p>
            <a:r>
              <a:rPr lang="en-IN" dirty="0"/>
              <a:t>Understanding cashflow distribution in securitisation </a:t>
            </a:r>
          </a:p>
          <a:p>
            <a:r>
              <a:rPr lang="en-IN" dirty="0"/>
              <a:t>Evaluating portfolio performance under stress conditions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9658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054E9-68A2-9C55-D182-9A6AF2366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63655-BE1C-31B2-AD74-C4B6AE186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Auto Loan Securitisation Data </a:t>
            </a:r>
          </a:p>
          <a:p>
            <a:r>
              <a:rPr lang="en-IN" dirty="0"/>
              <a:t>DPD Snapshot History </a:t>
            </a:r>
          </a:p>
          <a:p>
            <a:r>
              <a:rPr lang="en-IN" dirty="0"/>
              <a:t>Dynamic Loss Dataset </a:t>
            </a:r>
          </a:p>
          <a:p>
            <a:r>
              <a:rPr lang="en-IN" dirty="0"/>
              <a:t>Static Pool Vintage Data </a:t>
            </a:r>
          </a:p>
          <a:p>
            <a:r>
              <a:rPr lang="en-IN" b="1" dirty="0"/>
              <a:t>Key Fields:</a:t>
            </a:r>
            <a:endParaRPr lang="en-IN" dirty="0"/>
          </a:p>
          <a:p>
            <a:r>
              <a:rPr lang="en-IN" dirty="0"/>
              <a:t>Loan ID </a:t>
            </a:r>
          </a:p>
          <a:p>
            <a:r>
              <a:rPr lang="en-IN" dirty="0"/>
              <a:t>Current Balance </a:t>
            </a:r>
          </a:p>
          <a:p>
            <a:r>
              <a:rPr lang="en-IN" dirty="0"/>
              <a:t>DPD Bucket </a:t>
            </a:r>
          </a:p>
          <a:p>
            <a:r>
              <a:rPr lang="en-IN" dirty="0"/>
              <a:t>Origination Date </a:t>
            </a:r>
          </a:p>
          <a:p>
            <a:r>
              <a:rPr lang="en-IN" dirty="0"/>
              <a:t>Default Status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0199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5F6B-EF96-B342-9FDE-108531A11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54ACE-A0D0-44E8-DB63-DE3C7074A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Star Schema Model </a:t>
            </a:r>
          </a:p>
          <a:p>
            <a:r>
              <a:rPr lang="en-IN" dirty="0"/>
              <a:t>Fact Table: Auto Loan Data </a:t>
            </a:r>
          </a:p>
          <a:p>
            <a:r>
              <a:rPr lang="en-IN" dirty="0"/>
              <a:t>Dimension Tables: </a:t>
            </a:r>
          </a:p>
          <a:p>
            <a:pPr lvl="1"/>
            <a:r>
              <a:rPr lang="en-IN" dirty="0"/>
              <a:t>DPD Snapshot </a:t>
            </a:r>
          </a:p>
          <a:p>
            <a:pPr lvl="1"/>
            <a:r>
              <a:rPr lang="en-IN" dirty="0"/>
              <a:t>Vintage Data </a:t>
            </a:r>
          </a:p>
          <a:p>
            <a:pPr lvl="1"/>
            <a:r>
              <a:rPr lang="en-IN" dirty="0"/>
              <a:t>Date Table </a:t>
            </a:r>
          </a:p>
          <a:p>
            <a:r>
              <a:rPr lang="en-IN" dirty="0"/>
              <a:t>Relationships based on Loan ID &amp; Date </a:t>
            </a:r>
          </a:p>
          <a:p>
            <a:r>
              <a:rPr lang="en-IN" b="1" dirty="0"/>
              <a:t>Flow:</a:t>
            </a:r>
            <a:br>
              <a:rPr lang="en-IN" dirty="0"/>
            </a:br>
            <a:r>
              <a:rPr lang="en-IN" dirty="0"/>
              <a:t>Data → Power Query → Data Model → DAX →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8491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4CB72-8D03-98EB-1774-D25F52A6E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Executive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8384D-C7E9-F3B8-BDA2-96DC77608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Key KPIs:</a:t>
            </a:r>
            <a:endParaRPr lang="en-IN" dirty="0"/>
          </a:p>
          <a:p>
            <a:r>
              <a:rPr lang="en-IN" dirty="0"/>
              <a:t>Total Exposure </a:t>
            </a:r>
          </a:p>
          <a:p>
            <a:r>
              <a:rPr lang="en-IN" dirty="0"/>
              <a:t>Total Loans </a:t>
            </a:r>
          </a:p>
          <a:p>
            <a:r>
              <a:rPr lang="en-IN" dirty="0"/>
              <a:t>Default Rate </a:t>
            </a:r>
          </a:p>
          <a:p>
            <a:r>
              <a:rPr lang="en-IN" dirty="0"/>
              <a:t>Average Interest Rate </a:t>
            </a:r>
          </a:p>
          <a:p>
            <a:r>
              <a:rPr lang="en-IN" b="1" dirty="0"/>
              <a:t>Purpose:</a:t>
            </a:r>
            <a:br>
              <a:rPr lang="en-IN" dirty="0"/>
            </a:br>
            <a:r>
              <a:rPr lang="en-IN" dirty="0"/>
              <a:t>Provides a high-level view of portfolio health and risk exposure.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3499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F0CFD-1B6A-8D87-00AA-E1C96015A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IFRS 9 ECL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E61A2-62D6-DBF3-FDCA-AD6B534C2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Core Components:</a:t>
            </a:r>
            <a:endParaRPr lang="en-IN" dirty="0"/>
          </a:p>
          <a:p>
            <a:r>
              <a:rPr lang="en-IN" dirty="0"/>
              <a:t>PD (Probability of Default) </a:t>
            </a:r>
          </a:p>
          <a:p>
            <a:r>
              <a:rPr lang="en-IN" dirty="0"/>
              <a:t>LGD (Loss Given Default) </a:t>
            </a:r>
          </a:p>
          <a:p>
            <a:r>
              <a:rPr lang="en-IN" dirty="0"/>
              <a:t>EAD (Exposure at Default) </a:t>
            </a:r>
          </a:p>
          <a:p>
            <a:r>
              <a:rPr lang="en-IN" b="1" dirty="0"/>
              <a:t>Formula:</a:t>
            </a:r>
            <a:br>
              <a:rPr lang="en-IN" dirty="0"/>
            </a:br>
            <a:r>
              <a:rPr lang="en-IN" dirty="0"/>
              <a:t>Expected Loss = PD × LGD × EAD</a:t>
            </a:r>
          </a:p>
          <a:p>
            <a:r>
              <a:rPr lang="en-IN" b="1" dirty="0"/>
              <a:t>DAX Measures:</a:t>
            </a:r>
            <a:endParaRPr lang="en-IN" dirty="0"/>
          </a:p>
          <a:p>
            <a:r>
              <a:rPr lang="en-IN" dirty="0"/>
              <a:t>Total Exposure </a:t>
            </a:r>
          </a:p>
          <a:p>
            <a:r>
              <a:rPr lang="en-IN" dirty="0"/>
              <a:t>PD Calculation </a:t>
            </a:r>
          </a:p>
          <a:p>
            <a:r>
              <a:rPr lang="en-IN" dirty="0"/>
              <a:t>Expected Loss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9897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C53C2-D6CC-18FD-A07C-A810D922B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Vintage &amp; DPD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E321B-12D7-2F8D-D2BE-048360585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Vintage Analysis:</a:t>
            </a:r>
            <a:endParaRPr lang="en-IN" dirty="0"/>
          </a:p>
          <a:p>
            <a:r>
              <a:rPr lang="en-IN" dirty="0"/>
              <a:t>Tracks loan performance by origination year </a:t>
            </a:r>
          </a:p>
          <a:p>
            <a:r>
              <a:rPr lang="en-IN" dirty="0"/>
              <a:t>Uses MOB (Months on Book) </a:t>
            </a:r>
          </a:p>
          <a:p>
            <a:r>
              <a:rPr lang="en-IN" b="1" dirty="0"/>
              <a:t>DPD Analysis:</a:t>
            </a:r>
            <a:endParaRPr lang="en-IN" dirty="0"/>
          </a:p>
          <a:p>
            <a:r>
              <a:rPr lang="en-IN" dirty="0"/>
              <a:t>0–29 Days (Low Risk) </a:t>
            </a:r>
          </a:p>
          <a:p>
            <a:r>
              <a:rPr lang="en-IN" dirty="0"/>
              <a:t>30–59 Days (Medium Risk) </a:t>
            </a:r>
          </a:p>
          <a:p>
            <a:r>
              <a:rPr lang="en-IN" dirty="0"/>
              <a:t>60–89 Days (High Risk) </a:t>
            </a:r>
          </a:p>
          <a:p>
            <a:r>
              <a:rPr lang="en-IN" dirty="0"/>
              <a:t>90+ Days (Default)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3955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76AC6-2973-0F72-7A72-835689A81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Waterfall &amp; Stress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30D32-E3BE-FC54-5A12-9C59E7301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Waterfall Model:</a:t>
            </a:r>
            <a:endParaRPr lang="en-IN" dirty="0"/>
          </a:p>
          <a:p>
            <a:r>
              <a:rPr lang="en-IN" dirty="0"/>
              <a:t>Total Exposure </a:t>
            </a:r>
          </a:p>
          <a:p>
            <a:r>
              <a:rPr lang="en-IN" dirty="0"/>
              <a:t>Expected Loss </a:t>
            </a:r>
          </a:p>
          <a:p>
            <a:r>
              <a:rPr lang="en-IN" dirty="0"/>
              <a:t>Net Cashflow </a:t>
            </a:r>
          </a:p>
          <a:p>
            <a:r>
              <a:rPr lang="en-IN" dirty="0"/>
              <a:t>Tranche Distribution: </a:t>
            </a:r>
          </a:p>
          <a:p>
            <a:pPr lvl="1"/>
            <a:r>
              <a:rPr lang="en-IN" dirty="0"/>
              <a:t>Senior (80%) </a:t>
            </a:r>
          </a:p>
          <a:p>
            <a:pPr lvl="1"/>
            <a:r>
              <a:rPr lang="en-IN" dirty="0"/>
              <a:t>Mezzanine (15%) </a:t>
            </a:r>
          </a:p>
          <a:p>
            <a:pPr lvl="1"/>
            <a:r>
              <a:rPr lang="en-IN" dirty="0"/>
              <a:t>Equity (5%) </a:t>
            </a:r>
          </a:p>
          <a:p>
            <a:r>
              <a:rPr lang="en-IN" b="1" dirty="0"/>
              <a:t>Stress Testing:</a:t>
            </a:r>
            <a:endParaRPr lang="en-IN" dirty="0"/>
          </a:p>
          <a:p>
            <a:r>
              <a:rPr lang="en-IN" dirty="0"/>
              <a:t>Base Scenario </a:t>
            </a:r>
          </a:p>
          <a:p>
            <a:r>
              <a:rPr lang="en-IN" dirty="0"/>
              <a:t>Mild Stress (+25% loss) </a:t>
            </a:r>
          </a:p>
          <a:p>
            <a:r>
              <a:rPr lang="en-IN" dirty="0"/>
              <a:t>Severe Stress (+50% loss)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6428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C1789-04C3-FD8F-43A5-3FE01C111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Risk Arena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95E92-0E40-759E-CE47-32CAC296D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Risk Arena:</a:t>
            </a:r>
            <a:endParaRPr lang="en-IN" dirty="0"/>
          </a:p>
          <a:p>
            <a:r>
              <a:rPr lang="en-IN" dirty="0"/>
              <a:t>Simulates crisis scenarios: </a:t>
            </a:r>
          </a:p>
          <a:p>
            <a:pPr lvl="1"/>
            <a:r>
              <a:rPr lang="en-IN" dirty="0"/>
              <a:t>Mortgage Crisis </a:t>
            </a:r>
          </a:p>
          <a:p>
            <a:pPr lvl="1"/>
            <a:r>
              <a:rPr lang="en-IN" dirty="0"/>
              <a:t>Auto Loan Recession </a:t>
            </a:r>
          </a:p>
          <a:p>
            <a:pPr lvl="1"/>
            <a:r>
              <a:rPr lang="en-IN" dirty="0"/>
              <a:t>Interest Rate Shock </a:t>
            </a:r>
          </a:p>
          <a:p>
            <a:r>
              <a:rPr lang="en-IN" b="1" dirty="0"/>
              <a:t>Conclusion:</a:t>
            </a:r>
            <a:endParaRPr lang="en-IN" dirty="0"/>
          </a:p>
          <a:p>
            <a:r>
              <a:rPr lang="en-IN" dirty="0"/>
              <a:t>Built end-to-end securitisation analytics system </a:t>
            </a:r>
          </a:p>
          <a:p>
            <a:r>
              <a:rPr lang="en-IN" dirty="0"/>
              <a:t>Enables risk monitoring, loss estimation, and investor reporting </a:t>
            </a:r>
          </a:p>
          <a:p>
            <a:r>
              <a:rPr lang="en-IN" dirty="0"/>
              <a:t>Provides actionable insights for financial decision-making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0093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Securitisation Risk Analytics and IFRS 9 Risk Arena</vt:lpstr>
      <vt:lpstr>Project Overview</vt:lpstr>
      <vt:lpstr>Business Problem</vt:lpstr>
      <vt:lpstr>Data Sources</vt:lpstr>
      <vt:lpstr>Data Model Architecture</vt:lpstr>
      <vt:lpstr>Executive Dashboard</vt:lpstr>
      <vt:lpstr>IFRS 9 ECL Framework</vt:lpstr>
      <vt:lpstr>Vintage &amp; DPD Analysis</vt:lpstr>
      <vt:lpstr>Waterfall &amp; Stress Testing</vt:lpstr>
      <vt:lpstr>Risk Arena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koduri thanay</dc:creator>
  <cp:lastModifiedBy>koduri thanay</cp:lastModifiedBy>
  <cp:revision>1</cp:revision>
  <dcterms:created xsi:type="dcterms:W3CDTF">2026-06-22T11:38:37Z</dcterms:created>
  <dcterms:modified xsi:type="dcterms:W3CDTF">2026-06-22T11:38:37Z</dcterms:modified>
</cp:coreProperties>
</file>